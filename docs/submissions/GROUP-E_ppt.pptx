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2545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0B2545"/>
                </a:solidFill>
                <a:latin typeface="Cambria"/>
              </a:rPr>
              <a:t>Throughput Across DES Counts and Loads (packets/sec)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Throughput (pkts/sec)</c:v>
                </c:pt>
              </c:strCache>
            </c:strRef>
          </c:tx>
          <c:spPr>
            <a:solidFill>
              <a:srgbClr val="00C2C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5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 DES
10 pkts</c:v>
                  </c:pt>
                  <c:pt idx="1">
                    <c:v>3 DES
30 pkts</c:v>
                  </c:pt>
                  <c:pt idx="2">
                    <c:v>3 DES
75 pkts</c:v>
                  </c:pt>
                  <c:pt idx="3">
                    <c:v>3 DES
300 pkts</c:v>
                  </c:pt>
                  <c:pt idx="4">
                    <c:v>3 DES
3,000 pkts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138877.32</c:v>
                </c:pt>
                <c:pt idx="1">
                  <c:v>124870.97</c:v>
                </c:pt>
                <c:pt idx="2">
                  <c:v>136673.01</c:v>
                </c:pt>
                <c:pt idx="3">
                  <c:v>50299.99</c:v>
                </c:pt>
                <c:pt idx="4">
                  <c:v>48685.29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B254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9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14395B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389120"/>
            <a:ext cx="4572000" cy="4572000"/>
          </a:xfrm>
          <a:prstGeom prst="ellipse">
            <a:avLst/>
          </a:prstGeom>
          <a:solidFill>
            <a:srgbClr val="14395B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MPPLAB  ·  C-DAC PUNE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143000"/>
            <a:ext cx="10241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Telecom Stream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Processing Framework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MPI-Based Multi-DES Communication for Distributed Telecom Packet Processing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201168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Pathi Jahnavi</a:t>
            </a:r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&amp;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 Sreeja Meharani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MNIT Jaipur   ·   GNITS Hyderabad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983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Guidance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V. C. V. Rao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53035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for Development of Advanced Computing (C-DAC), Pune — MPPLAB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6126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–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 Streams Have Outgrown Batch 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290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56232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6" name="Image 0" descr="icons/char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1929933"/>
            <a:ext cx="419527" cy="4195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532888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Explosion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04672" y="2898648"/>
            <a:ext cx="2916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 and LTE networks generate continuous, high-velocity packet streams that defy traditional batch processing.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4290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3712" y="1856232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1" name="Image 1" descr="icons/bolt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413" y="1929933"/>
            <a:ext cx="419527" cy="4195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53712" y="2532888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Demands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53712" y="2898648"/>
            <a:ext cx="2916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need sub-millisecond analytics for anomaly detection, billing, and network optimisation.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600200"/>
            <a:ext cx="34290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02752" y="1856232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6" name="Image 2" descr="icons/laye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6453" y="1929933"/>
            <a:ext cx="419527" cy="41952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02752" y="2532888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Necessity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02752" y="2898648"/>
            <a:ext cx="2916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large-scale packet volumes demands distributed, parallel computing to avoid bottlenecks.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25196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0B2545"/>
          </a:solidFill>
          <a:ln/>
        </p:spPr>
      </p:sp>
      <p:sp>
        <p:nvSpPr>
          <p:cNvPr id="20" name="Text 15"/>
          <p:cNvSpPr/>
          <p:nvPr/>
        </p:nvSpPr>
        <p:spPr>
          <a:xfrm>
            <a:off x="914400" y="44531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14400" y="475488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Telecom Stream Processing Framework integrates distributed Data Extraction Servers (DES) with a parallelised MPI-based backend for reliable, high-throughput packet handling — from ingestion to storage, analytics, and monitoring.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 Infrastructure Buckles Under Peak Traffic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92938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icons/network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952" y="1995952"/>
            <a:ext cx="378927" cy="3789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9280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Complexity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463040" y="225856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Synchronising traffic across multiple, concurrently active Data Extraction Servers.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01384" y="192938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1" name="Image 1" descr="icons/sync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952" y="1995952"/>
            <a:ext cx="378927" cy="3789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189280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Latency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178040" y="225856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messaging protocols struggle to keep pace with high-speed packet ingestion.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86384" y="403250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6" name="Image 2" descr="icons/cog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952" y="4099072"/>
            <a:ext cx="378927" cy="37892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99592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Concurrency Overhead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463040" y="436168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 must be managed without compromising ordering or throughput.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63640" y="37947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01384" y="403250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21" name="Image 3" descr="icons/databas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952" y="4099072"/>
            <a:ext cx="378927" cy="37892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78040" y="399592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Constraints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178040" y="436168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for continuous runtime monitoring and non-blocking, reliable storage.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architectures fail under bursty traffic — resulting in packet drops and degraded QoS.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Framework Set Out to Achieve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97380"/>
            <a:ext cx="640080" cy="64008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6" name="Image 0" descr="icons/network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1890" y="19805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19656"/>
            <a:ext cx="32918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Architecture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5212080" y="1819656"/>
            <a:ext cx="617220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an MPI-based framework for reliable, low-latency communication between distributed nodes.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907792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113532"/>
            <a:ext cx="640080" cy="64008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1" name="Image 1" descr="icons/server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90" y="3196742"/>
            <a:ext cx="473659" cy="47365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035808"/>
            <a:ext cx="32918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Scalable Extraction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5212080" y="3035808"/>
            <a:ext cx="617220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multiple, concurrently active DES clients without redesigning the server's core logic.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4123944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329684"/>
            <a:ext cx="640080" cy="64008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6" name="Image 2" descr="icons/microchip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0" y="4412894"/>
            <a:ext cx="473659" cy="47365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4251960"/>
            <a:ext cx="32918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Fine-Grained Parallelism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5212080" y="4251960"/>
            <a:ext cx="617220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POSIX Threads for concurrent, high-throughput packet processing within each node.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5340096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68680" y="5545836"/>
            <a:ext cx="640080" cy="640080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1" name="Image 3" descr="icons/databas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890" y="5629046"/>
            <a:ext cx="473659" cy="47365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83080" y="5468112"/>
            <a:ext cx="32918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Reliability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5212080" y="5468112"/>
            <a:ext cx="617220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Berkeley DB for persistent, high-speed storage of every processed packet.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5148" y="2331720"/>
            <a:ext cx="1600200" cy="1554480"/>
          </a:xfrm>
          <a:prstGeom prst="roundRect">
            <a:avLst>
              <a:gd name="adj" fmla="val 5294"/>
            </a:avLst>
          </a:prstGeom>
          <a:solidFill>
            <a:srgbClr val="12335A"/>
          </a:solidFill>
          <a:ln w="12700">
            <a:solidFill>
              <a:srgbClr val="2A5A8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1784" y="2514600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6" name="Image 0" descr="icons/server_0B25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484" y="2588301"/>
            <a:ext cx="419527" cy="4195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0868" y="3200400"/>
            <a:ext cx="1508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(DES)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095348" y="3108960"/>
            <a:ext cx="32004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15388" y="2331720"/>
            <a:ext cx="1600200" cy="1554480"/>
          </a:xfrm>
          <a:prstGeom prst="roundRect">
            <a:avLst>
              <a:gd name="adj" fmla="val 5294"/>
            </a:avLst>
          </a:prstGeom>
          <a:solidFill>
            <a:srgbClr val="12335A"/>
          </a:solidFill>
          <a:ln w="12700">
            <a:solidFill>
              <a:srgbClr val="2A5A8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932024" y="2514600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1" name="Image 1" descr="icons/network_0B254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724" y="2588301"/>
            <a:ext cx="419527" cy="4195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461108" y="3200400"/>
            <a:ext cx="1508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015588" y="3108960"/>
            <a:ext cx="32004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335628" y="2331720"/>
            <a:ext cx="1600200" cy="1554480"/>
          </a:xfrm>
          <a:prstGeom prst="roundRect">
            <a:avLst>
              <a:gd name="adj" fmla="val 5294"/>
            </a:avLst>
          </a:prstGeom>
          <a:solidFill>
            <a:srgbClr val="12335A"/>
          </a:solidFill>
          <a:ln w="12700">
            <a:solidFill>
              <a:srgbClr val="2A5A8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52264" y="2514600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6" name="Image 2" descr="icons/microchip_0B254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5964" y="2588301"/>
            <a:ext cx="419527" cy="41952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381348" y="3200400"/>
            <a:ext cx="1508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Tier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(POSIX Threads)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935828" y="3108960"/>
            <a:ext cx="32004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255868" y="2331720"/>
            <a:ext cx="1600200" cy="1554480"/>
          </a:xfrm>
          <a:prstGeom prst="roundRect">
            <a:avLst>
              <a:gd name="adj" fmla="val 5294"/>
            </a:avLst>
          </a:prstGeom>
          <a:solidFill>
            <a:srgbClr val="12335A"/>
          </a:solidFill>
          <a:ln w="12700">
            <a:solidFill>
              <a:srgbClr val="2A5A8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772504" y="2514600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1" name="Image 3" descr="icons/database_0B254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6204" y="2588301"/>
            <a:ext cx="419527" cy="41952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01588" y="3200400"/>
            <a:ext cx="1508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Berkeley DB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856068" y="3108960"/>
            <a:ext cx="32004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8176108" y="2331720"/>
            <a:ext cx="1600200" cy="1554480"/>
          </a:xfrm>
          <a:prstGeom prst="roundRect">
            <a:avLst>
              <a:gd name="adj" fmla="val 5294"/>
            </a:avLst>
          </a:prstGeom>
          <a:solidFill>
            <a:srgbClr val="12335A"/>
          </a:solidFill>
          <a:ln w="12700">
            <a:solidFill>
              <a:srgbClr val="2A5A8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692744" y="2514600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26" name="Image 4" descr="icons/project_0B254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6444" y="2588301"/>
            <a:ext cx="419527" cy="41952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221828" y="3200400"/>
            <a:ext cx="1508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9776308" y="3108960"/>
            <a:ext cx="32004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10096348" y="2331720"/>
            <a:ext cx="1600200" cy="1554480"/>
          </a:xfrm>
          <a:prstGeom prst="roundRect">
            <a:avLst>
              <a:gd name="adj" fmla="val 5294"/>
            </a:avLst>
          </a:prstGeom>
          <a:solidFill>
            <a:srgbClr val="12335A"/>
          </a:solidFill>
          <a:ln w="12700">
            <a:solidFill>
              <a:srgbClr val="2A5A8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10612984" y="2514600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31" name="Image 5" descr="icons/chart_0B254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6684" y="2588301"/>
            <a:ext cx="419527" cy="41952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0142068" y="3200400"/>
            <a:ext cx="1508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822960" y="4434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decoupled producer–consumer pipeline: MPI decouples ingestion from processing, so a burst of incoming DES traffic never blocks the communication layer.</a:t>
            </a:r>
            <a:endParaRPr lang="en-US" sz="1350" dirty="0"/>
          </a:p>
        </p:txBody>
      </p:sp>
      <p:sp>
        <p:nvSpPr>
          <p:cNvPr id="34" name="Shape 26"/>
          <p:cNvSpPr/>
          <p:nvPr/>
        </p:nvSpPr>
        <p:spPr>
          <a:xfrm>
            <a:off x="2255368" y="5486400"/>
            <a:ext cx="2377440" cy="502920"/>
          </a:xfrm>
          <a:prstGeom prst="roundRect">
            <a:avLst>
              <a:gd name="adj" fmla="val 49091"/>
            </a:avLst>
          </a:prstGeom>
          <a:solidFill>
            <a:srgbClr val="12335A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2255368" y="5486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</p:txBody>
      </p:sp>
      <p:sp>
        <p:nvSpPr>
          <p:cNvPr id="36" name="Shape 28"/>
          <p:cNvSpPr/>
          <p:nvPr/>
        </p:nvSpPr>
        <p:spPr>
          <a:xfrm>
            <a:off x="4907128" y="5486400"/>
            <a:ext cx="2377440" cy="502920"/>
          </a:xfrm>
          <a:prstGeom prst="roundRect">
            <a:avLst>
              <a:gd name="adj" fmla="val 49091"/>
            </a:avLst>
          </a:prstGeom>
          <a:solidFill>
            <a:srgbClr val="12335A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4907128" y="5486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Testable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558888" y="5486400"/>
            <a:ext cx="2377440" cy="502920"/>
          </a:xfrm>
          <a:prstGeom prst="roundRect">
            <a:avLst>
              <a:gd name="adj" fmla="val 49091"/>
            </a:avLst>
          </a:prstGeom>
          <a:solidFill>
            <a:srgbClr val="12335A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558888" y="5486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448" y="169164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8400" y="189280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icons/code_00C2C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2100" y="1966509"/>
            <a:ext cx="419527" cy="4195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0888" y="258775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0888" y="310896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31440" y="169164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0392" y="189280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1" name="Image 1" descr="icons/microchip_00C2C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4092" y="1966509"/>
            <a:ext cx="419527" cy="4195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22880" y="258775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POSIX Threads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922880" y="310896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53432" y="169164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812384" y="189280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6" name="Image 2" descr="icons/network_00C2C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6084" y="1966509"/>
            <a:ext cx="419527" cy="41952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44872" y="258775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MPI (OpenMPI)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144872" y="310896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Comms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7275424" y="169164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34376" y="189280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21" name="Image 3" descr="icons/wifi_00C2C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8076" y="1966509"/>
            <a:ext cx="419527" cy="41952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6864" y="258775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TCP Sockets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366864" y="310896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Early-Phase Networking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497416" y="169164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0256368" y="189280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26" name="Image 4" descr="icons/database_00C2C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0068" y="1966509"/>
            <a:ext cx="419527" cy="41952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588856" y="258775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Berkeley DB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9588856" y="310896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9448" y="388620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1368400" y="408736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1" name="Image 5" descr="icons/sync_00C2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2100" y="4161069"/>
            <a:ext cx="419527" cy="41952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00888" y="478231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Mutex / CondVar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700888" y="530352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Synchronisation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2831440" y="388620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3590392" y="408736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36" name="Image 6" descr="icons/project_00C2C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4092" y="4161069"/>
            <a:ext cx="419527" cy="419527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2922880" y="478231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 &amp; Graph</a:t>
            </a:r>
            <a:endParaRPr lang="en-US" sz="1300" dirty="0"/>
          </a:p>
        </p:txBody>
      </p:sp>
      <p:sp>
        <p:nvSpPr>
          <p:cNvPr id="38" name="Text 29"/>
          <p:cNvSpPr/>
          <p:nvPr/>
        </p:nvSpPr>
        <p:spPr>
          <a:xfrm>
            <a:off x="2922880" y="530352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Structures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5053432" y="388620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5812384" y="408736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41" name="Image 7" descr="icons/cog_00C2C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6084" y="4161069"/>
            <a:ext cx="419527" cy="419527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144872" y="478231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GNU Make</a:t>
            </a:r>
            <a:endParaRPr lang="en-US" sz="1300" dirty="0"/>
          </a:p>
        </p:txBody>
      </p:sp>
      <p:sp>
        <p:nvSpPr>
          <p:cNvPr id="43" name="Text 33"/>
          <p:cNvSpPr/>
          <p:nvPr/>
        </p:nvSpPr>
        <p:spPr>
          <a:xfrm>
            <a:off x="5144872" y="530352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System</a:t>
            </a:r>
            <a:endParaRPr 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7275424" y="388620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8034376" y="408736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46" name="Image 8" descr="icons/server_00C2CB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8076" y="4161069"/>
            <a:ext cx="419527" cy="419527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7366864" y="478231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Ubuntu Linux</a:t>
            </a:r>
            <a:endParaRPr lang="en-US" sz="1300" dirty="0"/>
          </a:p>
        </p:txBody>
      </p:sp>
      <p:sp>
        <p:nvSpPr>
          <p:cNvPr id="48" name="Text 37"/>
          <p:cNvSpPr/>
          <p:nvPr/>
        </p:nvSpPr>
        <p:spPr>
          <a:xfrm>
            <a:off x="7366864" y="530352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System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9497416" y="3886200"/>
            <a:ext cx="2084832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50" name="Shape 39"/>
          <p:cNvSpPr/>
          <p:nvPr/>
        </p:nvSpPr>
        <p:spPr>
          <a:xfrm>
            <a:off x="10256368" y="4087368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51" name="Image 9" descr="icons/branch_00C2CB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0068" y="4161069"/>
            <a:ext cx="419527" cy="419527"/>
          </a:xfrm>
          <a:prstGeom prst="rect">
            <a:avLst/>
          </a:prstGeom>
        </p:spPr>
      </p:pic>
      <p:sp>
        <p:nvSpPr>
          <p:cNvPr id="52" name="Text 40"/>
          <p:cNvSpPr/>
          <p:nvPr/>
        </p:nvSpPr>
        <p:spPr>
          <a:xfrm>
            <a:off x="9588856" y="4782312"/>
            <a:ext cx="190195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GitHub</a:t>
            </a:r>
            <a:endParaRPr lang="en-US" sz="1300" dirty="0"/>
          </a:p>
        </p:txBody>
      </p:sp>
      <p:sp>
        <p:nvSpPr>
          <p:cNvPr id="53" name="Text 41"/>
          <p:cNvSpPr/>
          <p:nvPr/>
        </p:nvSpPr>
        <p:spPr>
          <a:xfrm>
            <a:off x="9588856" y="530352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050" dirty="0"/>
          </a:p>
        </p:txBody>
      </p:sp>
      <p:sp>
        <p:nvSpPr>
          <p:cNvPr id="54" name="Text 42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5" name="Text 43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Milestones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51560" y="2331720"/>
            <a:ext cx="10085832" cy="0"/>
          </a:xfrm>
          <a:prstGeom prst="line">
            <a:avLst/>
          </a:prstGeom>
          <a:noFill/>
          <a:ln w="25400">
            <a:solidFill>
              <a:srgbClr val="C7D3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1580" y="2011680"/>
            <a:ext cx="640080" cy="640080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0C2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158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98648"/>
            <a:ext cx="196596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" y="3044952"/>
            <a:ext cx="17099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POSIX Threads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" y="3630168"/>
            <a:ext cx="170992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Worker-pool design for task parallelisation.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93008" y="2011680"/>
            <a:ext cx="640080" cy="640080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0C2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30068" y="2898648"/>
            <a:ext cx="196596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958084" y="3044952"/>
            <a:ext cx="17099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TCP Sockets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58084" y="3630168"/>
            <a:ext cx="170992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Socket-based connectivity between local nodes.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74436" y="2011680"/>
            <a:ext cx="640080" cy="640080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0C2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74436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111496" y="2898648"/>
            <a:ext cx="196596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239512" y="3044952"/>
            <a:ext cx="17099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Socket + Thread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39512" y="3630168"/>
            <a:ext cx="170992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queues combined with socket ingestion.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55864" y="2011680"/>
            <a:ext cx="640080" cy="640080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0C2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55864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392924" y="2898648"/>
            <a:ext cx="196596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520940" y="3044952"/>
            <a:ext cx="17099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MPI Backbone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20940" y="3630168"/>
            <a:ext cx="170992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to MPI for multi-node scalability.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37292" y="2011680"/>
            <a:ext cx="640080" cy="640080"/>
          </a:xfrm>
          <a:prstGeom prst="ellipse">
            <a:avLst/>
          </a:prstGeom>
          <a:solidFill>
            <a:srgbClr val="0B2545"/>
          </a:solidFill>
          <a:ln w="25400">
            <a:solidFill>
              <a:srgbClr val="00C2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37292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674352" y="2898648"/>
            <a:ext cx="196596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802368" y="3044952"/>
            <a:ext cx="17099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Integration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802368" y="3630168"/>
            <a:ext cx="170992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integration with Berkeley DB and monitoring.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1264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— independently designed, implemented, tested, and validated — before progressing to the next.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&amp; Throughput Under Load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645920"/>
            <a:ext cx="3840480" cy="4297680"/>
          </a:xfrm>
          <a:prstGeom prst="roundRect">
            <a:avLst>
              <a:gd name="adj" fmla="val 214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745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092440" y="2377440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8" name="Text 5"/>
          <p:cNvSpPr/>
          <p:nvPr/>
        </p:nvSpPr>
        <p:spPr>
          <a:xfrm>
            <a:off x="8348472" y="2258568"/>
            <a:ext cx="3017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48.7K–50.3K pkts/sec sustained across a 10x jump in load (300 → 3,000 pkts)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92440" y="3547872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0" name="Text 7"/>
          <p:cNvSpPr/>
          <p:nvPr/>
        </p:nvSpPr>
        <p:spPr>
          <a:xfrm>
            <a:off x="8348472" y="3429000"/>
            <a:ext cx="3017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4% throughput variance despite the tenfold increase in packet volume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092440" y="4718304"/>
            <a:ext cx="109728" cy="109728"/>
          </a:xfrm>
          <a:prstGeom prst="ellipse">
            <a:avLst/>
          </a:prstGeom>
          <a:solidFill>
            <a:srgbClr val="00C2CB"/>
          </a:solidFill>
          <a:ln/>
        </p:spPr>
      </p:sp>
      <p:sp>
        <p:nvSpPr>
          <p:cNvPr id="12" name="Text 9"/>
          <p:cNvSpPr/>
          <p:nvPr/>
        </p:nvSpPr>
        <p:spPr>
          <a:xfrm>
            <a:off x="8348472" y="4599432"/>
            <a:ext cx="3017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packet loss, deadlocks, or race conditions at every scale tested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Quality Assurance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6" name="Image 0" descr="icons/check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2021373"/>
            <a:ext cx="419527" cy="4195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624328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04672" y="2990088"/>
            <a:ext cx="2916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packet sequencing maintained throughout the entire stream pipeline, in every configuration tested.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69164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3712" y="1947672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1" name="Image 1" descr="icons/shield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413" y="2021373"/>
            <a:ext cx="419527" cy="4195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53712" y="2624328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Synchronisation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53712" y="2990088"/>
            <a:ext cx="2916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 stress testing across five load levels — no deadlocks or race conditions observed.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69164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02752" y="1947672"/>
            <a:ext cx="566928" cy="566928"/>
          </a:xfrm>
          <a:prstGeom prst="ellipse">
            <a:avLst/>
          </a:prstGeom>
          <a:solidFill>
            <a:srgbClr val="00C2CB"/>
          </a:solidFill>
          <a:ln/>
        </p:spPr>
      </p:sp>
      <p:pic>
        <p:nvPicPr>
          <p:cNvPr id="16" name="Image 2" descr="icons/flask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6453" y="2021373"/>
            <a:ext cx="419527" cy="41952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02752" y="2624328"/>
            <a:ext cx="29169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Coverage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02752" y="2990088"/>
            <a:ext cx="291693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Producer/consumer modules and MPI-DES handshake fully validated under synthetic traffic generators.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18008" y="4434840"/>
            <a:ext cx="3566160" cy="1417320"/>
          </a:xfrm>
          <a:prstGeom prst="roundRect">
            <a:avLst>
              <a:gd name="adj" fmla="val 580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18008" y="45720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518008" y="53035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Configs Passed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312768" y="4434840"/>
            <a:ext cx="3566160" cy="1417320"/>
          </a:xfrm>
          <a:prstGeom prst="roundRect">
            <a:avLst>
              <a:gd name="adj" fmla="val 580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312768" y="45720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4" name="Text 19"/>
          <p:cNvSpPr/>
          <p:nvPr/>
        </p:nvSpPr>
        <p:spPr>
          <a:xfrm>
            <a:off x="4312768" y="53035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Lost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07528" y="4434840"/>
            <a:ext cx="3566160" cy="1417320"/>
          </a:xfrm>
          <a:prstGeom prst="roundRect">
            <a:avLst>
              <a:gd name="adj" fmla="val 580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107528" y="45720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</a:t>
            </a:r>
            <a:endParaRPr lang="en-US" sz="3000" dirty="0"/>
          </a:p>
        </p:txBody>
      </p:sp>
      <p:sp>
        <p:nvSpPr>
          <p:cNvPr id="27" name="Text 22"/>
          <p:cNvSpPr/>
          <p:nvPr/>
        </p:nvSpPr>
        <p:spPr>
          <a:xfrm>
            <a:off x="8107528" y="53035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Packets Validated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Research &amp; Scaling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92938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icons/cloud_00C2C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952" y="1995952"/>
            <a:ext cx="378927" cy="3789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9280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Integration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463040" y="225856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to a Kubernetes-managed, containerised deployment.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01384" y="192938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1" name="Image 1" descr="icons/robot_00C2C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952" y="1995952"/>
            <a:ext cx="378927" cy="3789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189280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Analytics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178040" y="225856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models for proactive traffic prediction and load balancing.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86384" y="403250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6" name="Image 2" descr="icons/shield_00C2C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952" y="4099072"/>
            <a:ext cx="378927" cy="37892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99592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Fault Tolerance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463040" y="436168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Checkpointing mechanisms to withstand node failure at scale.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63640" y="37947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4F7FB"/>
          </a:solidFill>
          <a:ln w="12700">
            <a:solidFill>
              <a:srgbClr val="E1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AAAB8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01384" y="403250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21" name="Image 3" descr="icons/desktop_00C2C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952" y="4099072"/>
            <a:ext cx="378927" cy="37892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78040" y="399592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Visualization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178040" y="4361688"/>
            <a:ext cx="4160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GUI-based analytics dashboard for real-time network state.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486400" cy="5486400"/>
          </a:xfrm>
          <a:prstGeom prst="ellipse">
            <a:avLst/>
          </a:prstGeom>
          <a:solidFill>
            <a:srgbClr val="14395B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4114800"/>
            <a:ext cx="5029200" cy="5029200"/>
          </a:xfrm>
          <a:prstGeom prst="ellipse">
            <a:avLst/>
          </a:prstGeom>
          <a:solidFill>
            <a:srgbClr val="14395B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Production-Ready Foundation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6492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Telecom Stream Processing Framework delivers a high-performance, scalable, and reliable architecture for modern telecom packet analytics — decoupling extraction from processing via MPI and POSIX Threads to solve the latency and concurrency challenges of massive data streams.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06640" y="1828800"/>
            <a:ext cx="4206240" cy="1051560"/>
          </a:xfrm>
          <a:prstGeom prst="roundRect">
            <a:avLst>
              <a:gd name="adj" fmla="val 7826"/>
            </a:avLst>
          </a:prstGeom>
          <a:solidFill>
            <a:srgbClr val="12335A"/>
          </a:solidFill>
          <a:ln w="12700">
            <a:solidFill>
              <a:srgbClr val="1233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35240" y="1828800"/>
            <a:ext cx="1508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48.7K+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235440" y="182880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pkts/sec sustained throughput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06640" y="3063240"/>
            <a:ext cx="4206240" cy="1051560"/>
          </a:xfrm>
          <a:prstGeom prst="roundRect">
            <a:avLst>
              <a:gd name="adj" fmla="val 7826"/>
            </a:avLst>
          </a:prstGeom>
          <a:solidFill>
            <a:srgbClr val="12335A"/>
          </a:solidFill>
          <a:ln w="12700">
            <a:solidFill>
              <a:srgbClr val="1233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35240" y="3063240"/>
            <a:ext cx="1508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235440" y="306324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DES clients validated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4297680"/>
            <a:ext cx="4206240" cy="1051560"/>
          </a:xfrm>
          <a:prstGeom prst="roundRect">
            <a:avLst>
              <a:gd name="adj" fmla="val 7826"/>
            </a:avLst>
          </a:prstGeom>
          <a:solidFill>
            <a:srgbClr val="12335A"/>
          </a:solidFill>
          <a:ln w="12700">
            <a:solidFill>
              <a:srgbClr val="1233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35240" y="4297680"/>
            <a:ext cx="1508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C2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235440" y="4297680"/>
            <a:ext cx="2240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lost across all tests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Telecom Stream Processing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828800"/>
            <a:ext cx="5943600" cy="5943600"/>
          </a:xfrm>
          <a:prstGeom prst="ellipse">
            <a:avLst/>
          </a:prstGeom>
          <a:solidFill>
            <a:srgbClr val="14395B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4343400"/>
            <a:ext cx="2011680" cy="0"/>
          </a:xfrm>
          <a:prstGeom prst="line">
            <a:avLst/>
          </a:prstGeom>
          <a:noFill/>
          <a:ln w="25400">
            <a:solidFill>
              <a:srgbClr val="00C2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Pathi Jahnavi   ·   Katta Sreeja Meharani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9194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 Dr. V. C. V. Rao  —  MPPLAB, C-DAC Pune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2026-07-19T14:54:47Z</dcterms:created>
  <dcterms:modified xsi:type="dcterms:W3CDTF">2026-07-19T14:54:47Z</dcterms:modified>
</cp:coreProperties>
</file>