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Cambria"/>
              </a:rPr>
              <a:t>Throughput Across DES Counts and Loads (packets/sec)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(pkts/sec)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DES
10 pkts</c:v>
                  </c:pt>
                  <c:pt idx="1">
                    <c:v>3 DES
30 pkts</c:v>
                  </c:pt>
                  <c:pt idx="2">
                    <c:v>3 DES
75 pkts</c:v>
                  </c:pt>
                  <c:pt idx="3">
                    <c:v>3 DES
300 pkts</c:v>
                  </c:pt>
                  <c:pt idx="4">
                    <c:v>3 DES
3,000 pkts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138877.32</c:v>
                </c:pt>
                <c:pt idx="1">
                  <c:v>124870.97</c:v>
                </c:pt>
                <c:pt idx="2">
                  <c:v>136673.01</c:v>
                </c:pt>
                <c:pt idx="3">
                  <c:v>50299.99</c:v>
                </c:pt>
                <c:pt idx="4">
                  <c:v>48685.29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395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14395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MPPLAB  ·  C-DAC PUNE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241280" cy="217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OF STREAMING TELECOM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DATA USING DATA EXTRACTION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IN A MESSAGE PASSING ENVIRONMENT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31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MPI-Based Multi-DES Communication for Distributed Telecom Packet Processing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27640"/>
            <a:ext cx="20116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1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Pathi Jahnavi (2023UCP1595)</a:t>
            </a:r>
            <a:pPr indent="0" marL="0">
              <a:buNone/>
            </a:pPr>
            <a:r>
              <a:rPr lang="en-US" sz="11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Team Lead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MNIT Jaipur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488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Sreeja Meharani (23251A6750)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GNITS Hyderabad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7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Guidance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MPPLAB (NSM Project) Experts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599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Development of Advanced Computing (C-DAC), Pune — MPPLAB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42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Streams Have Outgrown Batch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192993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328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and LTE networks generate continuous, high-velocity packet streams that defy traditional batch processing.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85623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413" y="192993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5328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Demands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3712" y="2898648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need sub-millisecond analytics for anomaly detection, billing, and network optimisation.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85623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icons/lay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453" y="192993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5328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Necessity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02752" y="2898648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large-scale packet volumes demands distributed, parallel computing to avoid bottlenecks.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0B2545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453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Telecom Stream Processing Framework integrates distributed Data Extraction Servers (DES) with a parallelised MPI-based backend for reliable, high-throughput packet handling — from ingestion to storage, analytics, and monitoring.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Infrastructure Buckles Under Peak Traffic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2938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952" y="1995952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Complexity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2585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Synchronising traffic across multiple, concurrently active Data Extraction Servers.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01384" y="192938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icons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52" y="1995952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Latency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78040" y="22585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messaging protocols struggle to keep pace with high-speed packet ingestion.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403250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icons/co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" y="4099072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Overhead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436168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 must be managed without compromising ordering or throughput.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1384" y="403250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52" y="4099072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Constraints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436168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continuous runtime monitoring and non-blocking, reliable storage.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architectures fail under bursty traffic — resulting in packet drops and degraded QoS.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Framework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7380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9805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19656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Architecture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0" y="1819656"/>
            <a:ext cx="6172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MPI-based framework for reliable, low-latency communication between distributed nodes.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113532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90" y="319674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035808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Extraction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212080" y="3035808"/>
            <a:ext cx="6172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multiple, concurrently active DES clients without redesigning the server's core logic.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23944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29684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icons/microchi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4412894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251960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Parallelism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12080" y="4251960"/>
            <a:ext cx="6172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POSIX Threads for concurrent, high-throughput packet processing within each node.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340096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545836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1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5629046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468112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Reliability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212080" y="5468112"/>
            <a:ext cx="6172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Berkeley DB for persistent, high-speed storage of every processed packet.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14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178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icons/server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484" y="25883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86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(DES)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95348" y="3108960"/>
            <a:ext cx="3200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1538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3202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icons/network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724" y="258830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110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015588" y="3108960"/>
            <a:ext cx="3200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3562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5226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icons/microchip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64" y="258830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134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(POSIX Threads)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35828" y="3108960"/>
            <a:ext cx="3200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25586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7250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1" name="Image 3" descr="icons/database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204" y="258830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158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DB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856068" y="3108960"/>
            <a:ext cx="3200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17610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9274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6" name="Image 4" descr="icons/project_0B254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6444" y="2588301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182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776308" y="3108960"/>
            <a:ext cx="3200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10096348" y="2331720"/>
            <a:ext cx="1600200" cy="1554480"/>
          </a:xfrm>
          <a:prstGeom prst="roundRect">
            <a:avLst>
              <a:gd name="adj" fmla="val 5294"/>
            </a:avLst>
          </a:prstGeom>
          <a:solidFill>
            <a:srgbClr val="12335A"/>
          </a:solidFill>
          <a:ln w="12700">
            <a:solidFill>
              <a:srgbClr val="2A5A8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612984" y="2514600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31" name="Image 5" descr="icons/chart_0B25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6684" y="2588301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42068" y="3200400"/>
            <a:ext cx="1508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producer–consumer pipeline: MPI decouples ingestion from processing, so a burst of incoming DES traffic never blocks the communication layer.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2255368" y="54864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2335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255368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907128" y="54864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2335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907128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Testable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558888" y="54864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2335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558888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448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8400" y="189280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icons/code_00C2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100" y="196650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888" y="25877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0888" y="31089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144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0392" y="189280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icons/microchip_00C2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92" y="196650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2880" y="25877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POSIX Threads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22880" y="31089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53432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12384" y="189280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icons/network_00C2C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084" y="196650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4872" y="25877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(OpenMPI)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44872" y="31089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Comms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75424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4376" y="189280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icons/wifi_00C2C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076" y="196650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6864" y="25877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Sockets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66864" y="31089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Early-Phase Networking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97416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56368" y="189280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6" name="Image 4" descr="icons/database_00C2C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0068" y="1966509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88856" y="25877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Berkeley DB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588856" y="31089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9448" y="388620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368400" y="40873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1" name="Image 5" descr="icons/sync_00C2C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100" y="4161069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0888" y="478231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 / CondVar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0888" y="53035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31440" y="388620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590392" y="40873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6" name="Image 6" descr="icons/project_00C2C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4092" y="4161069"/>
            <a:ext cx="419527" cy="41952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22880" y="478231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&amp; Graph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2922880" y="53035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053432" y="388620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812384" y="40873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1" name="Image 7" descr="icons/cog_00C2C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6084" y="4161069"/>
            <a:ext cx="419527" cy="41952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44872" y="478231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GNU Make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144872" y="53035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275424" y="388620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034376" y="40873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6" name="Image 8" descr="icons/server_00C2C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8076" y="4161069"/>
            <a:ext cx="419527" cy="41952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66864" y="478231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Linux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7366864" y="53035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9497416" y="388620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10256368" y="4087368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1" name="Image 9" descr="icons/branch_00C2C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0068" y="4161069"/>
            <a:ext cx="419527" cy="419527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588856" y="478231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588856" y="530352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43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2331720"/>
            <a:ext cx="10085832" cy="0"/>
          </a:xfrm>
          <a:prstGeom prst="line">
            <a:avLst/>
          </a:prstGeom>
          <a:noFill/>
          <a:ln w="25400">
            <a:solidFill>
              <a:srgbClr val="C7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011680"/>
            <a:ext cx="640080" cy="64008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15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1965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304495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POSIX Threads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363016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Worker-pool design for task parallelisation.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93008" y="2011680"/>
            <a:ext cx="640080" cy="64008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0068" y="2898648"/>
            <a:ext cx="1965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58084" y="304495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Sockets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58084" y="363016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Socket-based connectivity between local nodes.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74436" y="2011680"/>
            <a:ext cx="640080" cy="64008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443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11496" y="2898648"/>
            <a:ext cx="1965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9512" y="304495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 + Thread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9512" y="363016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queues combined with socket ingestion.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2011680"/>
            <a:ext cx="640080" cy="64008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586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92924" y="2898648"/>
            <a:ext cx="1965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20940" y="304495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Backbone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20940" y="363016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MPI for multi-node scalability.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37292" y="2011680"/>
            <a:ext cx="640080" cy="64008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729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74352" y="2898648"/>
            <a:ext cx="1965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802368" y="304495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02368" y="363016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integration with Berkeley DB and monitoring.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— independently designed, implemented, tested, and validated — before progressing to the next.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Throughput Under Load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840480" cy="4297680"/>
          </a:xfrm>
          <a:prstGeom prst="roundRect">
            <a:avLst>
              <a:gd name="adj" fmla="val 2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92440" y="2377440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5"/>
          <p:cNvSpPr/>
          <p:nvPr/>
        </p:nvSpPr>
        <p:spPr>
          <a:xfrm>
            <a:off x="8348472" y="22585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48.7K–50.3K pkts/sec sustained across a 10x jump in load (300 → 3,000 pkts)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354787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Text 7"/>
          <p:cNvSpPr/>
          <p:nvPr/>
        </p:nvSpPr>
        <p:spPr>
          <a:xfrm>
            <a:off x="8348472" y="34290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4% throughput variance despite the tenfold increase in packet volume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4718304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Text 9"/>
          <p:cNvSpPr/>
          <p:nvPr/>
        </p:nvSpPr>
        <p:spPr>
          <a:xfrm>
            <a:off x="8348472" y="4599432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packet loss, deadlocks, or race conditions at every scale tested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Quality Assurance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243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990088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packet sequencing maintained throughout the entire stream pipeline, in every configuration tested.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94767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413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243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Synchronisation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3712" y="2990088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stress testing across five load levels — no deadlocks or race conditions observed.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icons/flas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453" y="202137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243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Coverage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02752" y="2990088"/>
            <a:ext cx="2916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 modules and MPI-DES handshake fully validated under synthetic traffic generators.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18008" y="4434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18008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518008" y="5303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Configs Passed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312768" y="4434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12768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4312768" y="5303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Lost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07528" y="4434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07528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8107528" y="5303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Packets Validated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&amp;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2938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icons/cloud_00C2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952" y="1995952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Integration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2585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a Kubernetes-managed, containerised deployment.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01384" y="192938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icons/robot_00C2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52" y="1995952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78040" y="225856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for proactive traffic prediction and load balancing.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403250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icons/shield_00C2C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" y="4099072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436168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mechanisms to withstand node failure at scale.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1384" y="403250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icons/desktop_00C2C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52" y="4099072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4361688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analytics dashboard for real-time network state.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4395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4395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Production-Ready Foundation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Telecom Stream Processing Framework delivers a high-performance, scalable, and reliable architecture for modern telecom packet analytics — decoupling extraction from processing via MPI and POSIX Threads to solve the latency and concurrency challenges of massive data streams.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828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235440" y="182880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pkts/sec sustained throughput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06324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30632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0" y="30632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DES clients validated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429768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42976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42976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lost across all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Telecom Stream Processing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5943600" cy="5943600"/>
          </a:xfrm>
          <a:prstGeom prst="ellipse">
            <a:avLst/>
          </a:prstGeom>
          <a:solidFill>
            <a:srgbClr val="14395B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20116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Pathi Jahnavi (2023UCP1595)</a:t>
            </a:r>
            <a:pPr indent="0" marL="0">
              <a:buNone/>
            </a:pPr>
            <a:r>
              <a:rPr lang="en-US" sz="11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Team Lead</a:t>
            </a:r>
            <a:endParaRPr lang="en-US" sz="1300" dirty="0"/>
          </a:p>
        </p:txBody>
      </p:sp>
      <p:sp>
        <p:nvSpPr>
          <p:cNvPr id="13" name="Text 4b"/>
          <p:cNvSpPr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Sreeja Meharani (23251A6750)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350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MPPLAB (NSM Project) Experts  —  C-DAC, Pune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2026-07-19T14:54:47Z</dcterms:created>
  <dcterms:modified xsi:type="dcterms:W3CDTF">2026-07-19T14:54:47Z</dcterms:modified>
</cp:coreProperties>
</file>